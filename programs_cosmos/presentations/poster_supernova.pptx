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206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Automated Detection of Supernovae in the COSMOS Field</a:t>
            </a:r>
            <a:br/>
            <a:r>
              <a:t>by Comparing JWST and HST Images with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206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CDDFF"/>
                </a:solidFill>
                <a:latin typeface="Calibri"/>
              </a:defRPr>
            </a:pPr>
            <a:r>
              <a:t>N. Suzuki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13990320" cy="86868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3990320" cy="640080"/>
          </a:xfrm>
          <a:prstGeom prst="roundRect">
            <a:avLst/>
          </a:prstGeom>
          <a:solidFill>
            <a:srgbClr val="2E5090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362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3441680" cy="7589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Supernovae (SNe) are rare transient events — bright stellar explosions that appear as new point sources near their host galaxies.</a:t>
            </a:r>
          </a:p>
          <a:p>
            <a:pPr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Challenge: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The COSMOS field was observed by both HST (2004–2005) and JWST (2023–2024), spanning ~20 years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Images from different telescopes with different pixel scales, filters, and resolutions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Manual inspection of ~212,000 objects is infeasible</a:t>
            </a:r>
          </a:p>
          <a:p>
            <a:pPr>
              <a:spcAft>
                <a:spcPts val="400"/>
              </a:spcAft>
              <a:defRPr sz="1800" b="0">
                <a:solidFill>
                  <a:srgbClr val="C03030"/>
                </a:solidFill>
                <a:latin typeface="Calibri"/>
              </a:defRPr>
            </a:pPr>
            <a:r>
              <a:t>• SN rate is very low: ~1 per 1,000 objects</a:t>
            </a:r>
          </a:p>
          <a:p>
            <a:pPr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Goal: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Build an automated CNN-based pipeline to detect SN candidates by comparing HST and JWST image triplets, validated against 23 visually confirmed supernovae.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04720" y="3657600"/>
            <a:ext cx="13990320" cy="86868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904720" y="3657600"/>
            <a:ext cx="13990320" cy="640080"/>
          </a:xfrm>
          <a:prstGeom prst="roundRect">
            <a:avLst/>
          </a:prstGeom>
          <a:solidFill>
            <a:srgbClr val="2E5090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0" y="3703320"/>
            <a:ext cx="1362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0" y="4434840"/>
            <a:ext cx="13441680" cy="7589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HST COSMOS-ACS:  212,460 PNG cutouts</a:t>
            </a:r>
          </a:p>
          <a:p>
            <a:pPr>
              <a:spcAft>
                <a:spcPts val="40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t>    Filename: {ID}_{Field}_hstcosmos.png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JWST COSMOS-Web:  424,941 PNG cutouts (2 filters/object)</a:t>
            </a:r>
          </a:p>
          <a:p>
            <a:pPr>
              <a:spcAft>
                <a:spcPts val="400"/>
              </a:spcAft>
              <a:defRPr sz="1600" b="0">
                <a:solidFill>
                  <a:srgbClr val="606060"/>
                </a:solidFill>
                <a:latin typeface="Calibri"/>
              </a:defRPr>
            </a:pPr>
            <a:r>
              <a:t>    Filenames: {ID}_{Field}_jwst1.png, {ID}_{Field}_jwst2.png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Matching: By object ID (field names may differ)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Image properties: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Galaxy centered in each PNG cutout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Grayscale, resized to 64×64 pixels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Central 50% cropped to focus on galaxy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C03030"/>
                </a:solidFill>
                <a:latin typeface="Calibri"/>
              </a:defRPr>
            </a:pPr>
            <a:r>
              <a:t>Training/validation: 23 confirmed supernovae from visual inspection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Dataset          Count        Telescope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HST images       212,460     HST ACS/WFC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JWST images     424,941     JWST NIRCam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Matched triplets  ~212,000   HST + JWST1 + JWST2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Known SNe         23            Visual inspection</a:t>
            </a:r>
          </a:p>
          <a:p>
            <a:pPr>
              <a:spcAft>
                <a:spcPts val="400"/>
              </a:spcAft>
              <a:defRPr sz="1600" b="0">
                <a:solidFill>
                  <a:srgbClr val="C03030"/>
                </a:solidFill>
                <a:latin typeface="Calibri"/>
              </a:defRPr>
            </a:pPr>
            <a:r>
              <a:t>Expected rate     ~1/1000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52240" y="3657600"/>
            <a:ext cx="13990320" cy="86868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352240" y="3657600"/>
            <a:ext cx="13990320" cy="640080"/>
          </a:xfrm>
          <a:prstGeom prst="roundRect">
            <a:avLst/>
          </a:prstGeom>
          <a:solidFill>
            <a:srgbClr val="2E5090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0" y="3703320"/>
            <a:ext cx="1362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Physical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0" y="4434840"/>
            <a:ext cx="1344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(a) SN appears near host galaxy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A supernova is an exploding star within a galaxy. It must appear near the center of each PNG (where the host galaxy is). We crop the central 50% and keep sources within 25% of center.</a:t>
            </a:r>
          </a:p>
          <a:p>
            <a:pPr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(b) SN must be consistent across filters: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083760" y="7178040"/>
            <a:ext cx="3200400" cy="64008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29480" y="7178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HST: No SN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0" y="6812280"/>
            <a:ext cx="3200400" cy="640080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01480" y="68122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JWST1: SN present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55760" y="7635240"/>
            <a:ext cx="3200400" cy="640080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01480" y="7635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JWST2: SN present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0" y="7178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030"/>
                </a:solidFill>
                <a:latin typeface="Calibri"/>
              </a:defRPr>
            </a:pPr>
            <a:r>
              <a:t>→ JWST Supernova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083760" y="9006840"/>
            <a:ext cx="3200400" cy="640080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29480" y="9006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HST: SN present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655760" y="8641080"/>
            <a:ext cx="3200400" cy="64008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01480" y="8641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JWST1: No SN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655760" y="9464040"/>
            <a:ext cx="3200400" cy="64008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01480" y="9464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JWST2: No SN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70560" y="9006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030"/>
                </a:solidFill>
                <a:latin typeface="Calibri"/>
              </a:defRPr>
            </a:pPr>
            <a:r>
              <a:t>→ HST Supernova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26560" y="10378440"/>
            <a:ext cx="1344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JWST SN: new source in both JWST1 and JWST2 (same position), absent in HST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HST SN: source in HST only, absent in both JWST1 and JWST2 (SN faded)</a:t>
            </a:r>
          </a:p>
          <a:p>
            <a:pPr>
              <a:spcAft>
                <a:spcPts val="400"/>
              </a:spcAft>
              <a:defRPr sz="1800" b="0">
                <a:solidFill>
                  <a:srgbClr val="208040"/>
                </a:solidFill>
                <a:latin typeface="Calibri"/>
              </a:defRPr>
            </a:pPr>
            <a:r>
              <a:t>• Requiring both JWST filters eliminates single-filter artifacts and noise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2801600"/>
            <a:ext cx="13990320" cy="105156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12801600"/>
            <a:ext cx="13990320" cy="640080"/>
          </a:xfrm>
          <a:prstGeom prst="roundRect">
            <a:avLst/>
          </a:prstGeom>
          <a:solidFill>
            <a:srgbClr val="2E5090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12847320"/>
            <a:ext cx="1362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 CNN Architecture &amp;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13578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Input: 3-channel 64×64 (HST + JWST1 + JWST2)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14036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Output: P(supernova) ∈ [0, 1]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14950440"/>
            <a:ext cx="5486400" cy="548640"/>
          </a:xfrm>
          <a:prstGeom prst="roundRect">
            <a:avLst/>
          </a:prstGeom>
          <a:solidFill>
            <a:srgbClr val="E0F5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14950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Input: 3 × 64 × 64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3794760" y="15517368"/>
            <a:ext cx="274320" cy="18288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88720" y="15727680"/>
            <a:ext cx="5486400" cy="54864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15727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Conv2D(16) + BN + ReLU → MaxPool → 32×32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3794760" y="16294608"/>
            <a:ext cx="274320" cy="18288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88720" y="16504920"/>
            <a:ext cx="5486400" cy="54864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165049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Conv2D(32) + BN + ReLU → MaxPool → 16×16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3794760" y="17071848"/>
            <a:ext cx="274320" cy="18288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188720" y="17282160"/>
            <a:ext cx="5486400" cy="54864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40" y="172821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Conv2D(64) + BN + ReLU → MaxPool → 8×8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3794760" y="17849088"/>
            <a:ext cx="274320" cy="18288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88720" y="18059400"/>
            <a:ext cx="5486400" cy="54864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180594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Conv2D(128) + BN + ReLU → AvgPool → 1×1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3794760" y="18626328"/>
            <a:ext cx="274320" cy="18288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88720" y="18836640"/>
            <a:ext cx="5486400" cy="548640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34440" y="18836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FC(128→64) + ReLU + Dropout(0.3) + FC(64→1)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3794760" y="19403568"/>
            <a:ext cx="274320" cy="18288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88720" y="19613880"/>
            <a:ext cx="5486400" cy="548640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4440" y="196138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000000"/>
                </a:solidFill>
                <a:latin typeface="Calibri"/>
              </a:defRPr>
            </a:pPr>
            <a:r>
              <a:t>Sigmoid → P(SN)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14676120"/>
            <a:ext cx="59436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Training Strategy: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23 known SN oversampled ×50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  as real positive examples</a:t>
            </a:r>
          </a:p>
          <a:p>
            <a:pPr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5,000 artificial SN injected as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  Gaussian sources near galaxy center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  (both JWST-type and HST-type)</a:t>
            </a:r>
          </a:p>
          <a:p>
            <a:pPr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100,000 negatives (20:1 ratio)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  from non-SN objects</a:t>
            </a:r>
          </a:p>
          <a:p>
            <a:pPr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Loss: BCEWithLogits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Optimizer: Adam, LR = 10⁻³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LR scheduler: ReduceLROnPlateau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Augmentation: flips + 90° rotations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50 epochs, best model by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  known SN recovery rate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904720" y="12801600"/>
            <a:ext cx="13990320" cy="105156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4904720" y="12801600"/>
            <a:ext cx="13990320" cy="640080"/>
          </a:xfrm>
          <a:prstGeom prst="roundRect">
            <a:avLst/>
          </a:prstGeom>
          <a:solidFill>
            <a:srgbClr val="2E5090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087600" y="12847320"/>
            <a:ext cx="1362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 Detection Pipeline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6276320" y="14036040"/>
            <a:ext cx="10972800" cy="914400"/>
          </a:xfrm>
          <a:prstGeom prst="roundRect">
            <a:avLst/>
          </a:prstGeom>
          <a:solidFill>
            <a:srgbClr val="E0F5E0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67760" y="14081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1:  Match HST + JWST1 + JWST2 triplets by object ID</a:t>
            </a:r>
          </a:p>
        </p:txBody>
      </p:sp>
      <p:sp>
        <p:nvSpPr>
          <p:cNvPr id="63" name="Down Arrow 62"/>
          <p:cNvSpPr/>
          <p:nvPr/>
        </p:nvSpPr>
        <p:spPr>
          <a:xfrm>
            <a:off x="21625560" y="14996160"/>
            <a:ext cx="274320" cy="36576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6276320" y="15407640"/>
            <a:ext cx="10972800" cy="914400"/>
          </a:xfrm>
          <a:prstGeom prst="roundRect">
            <a:avLst/>
          </a:prstGeom>
          <a:solidFill>
            <a:srgbClr val="FFF8E0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367760" y="154533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2:  Train CNN on known SN + artificial SN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21625560" y="16367760"/>
            <a:ext cx="274320" cy="36576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6276320" y="16779240"/>
            <a:ext cx="10972800" cy="91440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367760" y="16824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3:  Validate — recover ALL 23 known supernovae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21625560" y="17739360"/>
            <a:ext cx="274320" cy="36576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6276320" y="18150840"/>
            <a:ext cx="10972800" cy="914400"/>
          </a:xfrm>
          <a:prstGeom prst="roundRect">
            <a:avLst/>
          </a:prstGeom>
          <a:solidFill>
            <a:srgbClr val="FFE8E8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367760" y="18196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4:  Apply to all ~212,000 objects (write results immediately)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21625560" y="19110960"/>
            <a:ext cx="274320" cy="365760"/>
          </a:xfrm>
          <a:prstGeom prst="downArrow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6276320" y="19522440"/>
            <a:ext cx="10972800" cy="9144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6367760" y="19568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5:  Verify known SN in results; check rate ~1/1000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179040" y="21168360"/>
            <a:ext cx="1344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Candidates are written to CSV immediately as they are found,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allowing real-time monitoring during the multi-hour run.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9352240" y="12801600"/>
            <a:ext cx="13990320" cy="105156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9352240" y="12801600"/>
            <a:ext cx="13990320" cy="640080"/>
          </a:xfrm>
          <a:prstGeom prst="roundRect">
            <a:avLst/>
          </a:prstGeom>
          <a:solidFill>
            <a:srgbClr val="2E5090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535120" y="12847320"/>
            <a:ext cx="1362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 Threshold Selection &amp; Artificial SN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626560" y="13578840"/>
            <a:ext cx="13441680" cy="960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Automatic threshold selection: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The threshold is set to 90% of the lowest probability among the 23 known SNe. This guarantees 100% recovery of all confirmed SN.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C03030"/>
                </a:solidFill>
                <a:latin typeface="Calibri"/>
              </a:defRPr>
            </a:pPr>
            <a:r>
              <a:t>    θ = 0.9 × min P(SN) over known SNe</a:t>
            </a:r>
          </a:p>
          <a:p>
            <a:pPr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Artificial supernova injection: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t>Gaussian point sources injected near the galaxy center to augment the small training set:</a:t>
            </a:r>
          </a:p>
          <a:p>
            <a:pPr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2E5090"/>
                </a:solidFill>
                <a:latin typeface="Calibri"/>
              </a:defRPr>
            </a:pPr>
            <a:r>
              <a:t>    I_SN(x,y) = I_orig(x,y) + A·exp(−((x−x₀)²+(y−y₀)²) / 2σ²)</a:t>
            </a:r>
          </a:p>
          <a:p>
            <a:pPr>
              <a:spcAft>
                <a:spcPts val="4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Parameters: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(x₀, y₀): random position within 25% of image center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A ∈ [0.3, 0.9]: peak brightness (random)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σ ∈ [1.0, 3.0] pixels: PSF width (random)</a:t>
            </a:r>
          </a:p>
          <a:p>
            <a:pPr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For JWST SN: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Injected at same position in both JWST filters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• Slightly different brightness: A₂ = A₁ × U[0.7, 1.3]</a:t>
            </a:r>
          </a:p>
          <a:p>
            <a:pPr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606060"/>
                </a:solidFill>
                <a:latin typeface="Calibri"/>
              </a:defRPr>
            </a:pPr>
            <a:r>
              <a:t>[Space for artificial SN example images]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23774400"/>
            <a:ext cx="42885360" cy="86868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57200" y="23774400"/>
            <a:ext cx="42885360" cy="640080"/>
          </a:xfrm>
          <a:prstGeom prst="roundRect">
            <a:avLst/>
          </a:prstGeom>
          <a:solidFill>
            <a:srgbClr val="2E5090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23820120"/>
            <a:ext cx="4251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7. Results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704320" y="27294840"/>
            <a:ext cx="1828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Calibri"/>
              </a:defRPr>
            </a:pPr>
            <a:r>
              <a:t>[Second half — to be filled with result images,</a:t>
            </a:r>
            <a:br/>
            <a:r>
              <a:t>candidate gallery, detection statistics, and recovery plots]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